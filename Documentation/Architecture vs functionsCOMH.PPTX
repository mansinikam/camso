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sldIdLst>
    <p:sldId id="258" r:id="rId5"/>
    <p:sldId id="257" r:id="rId6"/>
    <p:sldId id="260" r:id="rId7"/>
  </p:sldIdLst>
  <p:sldSz cx="12192000" cy="6858000"/>
  <p:notesSz cx="6797675" cy="98726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8B6B4C-B33A-45C6-98CA-BB030E97C623}" type="datetimeFigureOut">
              <a:rPr lang="en-CA" smtClean="0"/>
              <a:t>2018-12-04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5075"/>
            <a:ext cx="5921375" cy="3330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51219"/>
            <a:ext cx="5438140" cy="38873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7318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377318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19E4CB-6FE1-4D73-8D82-4A8B503D317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146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8C9E85-D6D1-6D43-AD75-08892A3A8C03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6776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8C9E85-D6D1-6D43-AD75-08892A3A8C03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247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10463-D467-4E68-BF38-BD30AA8146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24E7CF-2DD9-4189-A0A7-2B4F6C284D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CE3B3-3D4C-4739-B989-9F8526352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9EF0F-D01D-41C0-B06A-1310E5A2CCBF}" type="datetimeFigureOut">
              <a:rPr lang="en-CA" smtClean="0"/>
              <a:t>2018-12-04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9783A-51D8-4D6E-A779-8FCD3575A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98509-93D9-4FC4-8C61-2682D15C0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B68E3-0045-4B13-BE2C-82CC5B8E9D6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94515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888BC-4D0D-44A0-A934-9FC2F8B9C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EE128-60D0-4D36-B7A6-4197B1C03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ADA1BD-1E44-4B56-AE99-C3C48CA0A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9EF0F-D01D-41C0-B06A-1310E5A2CCBF}" type="datetimeFigureOut">
              <a:rPr lang="en-CA" smtClean="0"/>
              <a:t>2018-12-04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DAE94-3A4A-4D35-A769-090276EA2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426C3C-CC87-470E-9266-4B51BA706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B68E3-0045-4B13-BE2C-82CC5B8E9D6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4639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F0D41-1EF0-45F3-8214-9A3CC93BC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C39328-6EAA-4F6A-9CD4-8E8D4021A0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02849-CC09-4202-A774-720B01ACA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9EF0F-D01D-41C0-B06A-1310E5A2CCBF}" type="datetimeFigureOut">
              <a:rPr lang="en-CA" smtClean="0"/>
              <a:t>2018-12-04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E443C-35DA-4694-B062-BFCAF2E3B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043A18-C380-40AC-815E-A61238F56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B68E3-0045-4B13-BE2C-82CC5B8E9D6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86063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67DDC-6377-490C-A553-63830D069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6D416-8C38-4A93-B95F-BE106E13DD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8BC36D-13C3-4D2E-98F5-1DB1662D1F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278A95-1CF9-4808-B280-6E95B1918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9EF0F-D01D-41C0-B06A-1310E5A2CCBF}" type="datetimeFigureOut">
              <a:rPr lang="en-CA" smtClean="0"/>
              <a:t>2018-12-04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0982A4-D966-48E8-863C-7BA3F7D06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154306-BA3F-4589-9E9D-D1A9A8A11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B68E3-0045-4B13-BE2C-82CC5B8E9D6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53941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5173E-7672-48A7-A5BA-97C9C4608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18754F-B734-45A2-AA9D-AA98AE89C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F4377C-7549-46FF-A146-BE6FD242EB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699F4F-0A1B-489C-8FA0-136063F61D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EAEA00-BBF6-4CA7-BF8B-B03D58C735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3B5AE7-3417-46F0-94F0-76E0B3172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9EF0F-D01D-41C0-B06A-1310E5A2CCBF}" type="datetimeFigureOut">
              <a:rPr lang="en-CA" smtClean="0"/>
              <a:t>2018-12-04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E26155-C2C4-4A4B-84F4-09F47A20F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25FC3D-8920-43BA-9EE2-2EFB8DE4C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B68E3-0045-4B13-BE2C-82CC5B8E9D6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82590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89D01-C7CA-46AE-BDDE-4675963CB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DE1FEC-6EB1-479F-BB42-EBEBCC772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9EF0F-D01D-41C0-B06A-1310E5A2CCBF}" type="datetimeFigureOut">
              <a:rPr lang="en-CA" smtClean="0"/>
              <a:t>2018-12-04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C88530-5DDC-4FCC-8E5A-BB9BF2360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6DE1AA-E8B0-4479-8173-E409205E4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B68E3-0045-4B13-BE2C-82CC5B8E9D6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8236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1A8688-2807-43C7-AC8C-22F32C6E8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9EF0F-D01D-41C0-B06A-1310E5A2CCBF}" type="datetimeFigureOut">
              <a:rPr lang="en-CA" smtClean="0"/>
              <a:t>2018-12-04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551DA7-81F5-4860-9EA0-B914D00E7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5ED4F9-C5E9-4F63-98B8-C363D0719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B68E3-0045-4B13-BE2C-82CC5B8E9D6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73230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82810-3158-451A-9BD6-1938C6306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B22F3-E52E-4023-8119-A233EC333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5CF5AD-FE7E-4457-9EA1-A1E3DD2BF1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F528CA-04E3-4CFB-A951-96BC80C66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9EF0F-D01D-41C0-B06A-1310E5A2CCBF}" type="datetimeFigureOut">
              <a:rPr lang="en-CA" smtClean="0"/>
              <a:t>2018-12-04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686B77-5D25-4D2F-BD09-F4F290503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B39E4F-1726-4DFF-B3B8-E1C391F3C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B68E3-0045-4B13-BE2C-82CC5B8E9D6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03635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BD91F-23DC-44F2-A8AD-D72E1031B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A9EC91-E6F7-4A1C-AEB8-3A8FBF4672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108703-4A8B-4749-A1D8-F1820F5830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421B88-4D81-4260-B90C-097CCB28F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9EF0F-D01D-41C0-B06A-1310E5A2CCBF}" type="datetimeFigureOut">
              <a:rPr lang="en-CA" smtClean="0"/>
              <a:t>2018-12-04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2AADA1-DDFA-4BF1-901E-A6EBAAAAD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9BDC78-1D0B-4BCF-B40A-C33616A63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B68E3-0045-4B13-BE2C-82CC5B8E9D6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75658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61D22-FEC9-4218-81BF-76F09EE0C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D5BAC1-F71F-4764-9AC4-35A8CD0326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23758F-7E40-4FD7-BF0C-F29EAE4E8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9EF0F-D01D-41C0-B06A-1310E5A2CCBF}" type="datetimeFigureOut">
              <a:rPr lang="en-CA" smtClean="0"/>
              <a:t>2018-12-04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2D7C9D-9552-4753-B00D-A85F5AC8E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3E38F-1316-444E-9346-C201B6E58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B68E3-0045-4B13-BE2C-82CC5B8E9D6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5324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B84E52-7F94-4BB4-AD38-EC4D09EE91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10DA1B-A6F9-4D53-9E73-A8962A2ED7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29CAF-CCD8-4DC4-9080-1EBDB3242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9EF0F-D01D-41C0-B06A-1310E5A2CCBF}" type="datetimeFigureOut">
              <a:rPr lang="en-CA" smtClean="0"/>
              <a:t>2018-12-04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83110-745B-4A96-9B28-3956EFB4D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1D18C-616E-47B0-94EC-EC014BF2C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B68E3-0045-4B13-BE2C-82CC5B8E9D6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372415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2 _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Cliquez et modifiez le titre</a:t>
            </a:r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Camso 2018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0057B8"/>
                </a:solidFill>
              </a:defRPr>
            </a:lvl1pPr>
          </a:lstStyle>
          <a:p>
            <a:fld id="{4E950855-28E0-B842-9330-3B380073FD02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2"/>
          </p:nvPr>
        </p:nvSpPr>
        <p:spPr>
          <a:xfrm>
            <a:off x="609600" y="1673148"/>
            <a:ext cx="5393240" cy="4453016"/>
          </a:xfrm>
        </p:spPr>
        <p:txBody>
          <a:bodyPr/>
          <a:lstStyle/>
          <a:p>
            <a:pPr lvl="0"/>
            <a:r>
              <a:rPr lang="fr-CA" dirty="0"/>
              <a:t>Cliquez pour modifier les styles du texte du masque</a:t>
            </a:r>
          </a:p>
          <a:p>
            <a:pPr lvl="1"/>
            <a:r>
              <a:rPr lang="fr-CA" dirty="0"/>
              <a:t>Deuxième niveau</a:t>
            </a:r>
          </a:p>
          <a:p>
            <a:pPr lvl="2"/>
            <a:r>
              <a:rPr lang="fr-CA" dirty="0"/>
              <a:t>Troisième niveau</a:t>
            </a:r>
          </a:p>
          <a:p>
            <a:pPr lvl="3"/>
            <a:r>
              <a:rPr lang="fr-CA" dirty="0"/>
              <a:t>Quatrième niveau</a:t>
            </a:r>
          </a:p>
          <a:p>
            <a:pPr lvl="4"/>
            <a:r>
              <a:rPr lang="fr-CA" dirty="0"/>
              <a:t>Cinquième niveau</a:t>
            </a:r>
            <a:endParaRPr lang="fr-FR" dirty="0"/>
          </a:p>
        </p:txBody>
      </p:sp>
      <p:sp>
        <p:nvSpPr>
          <p:cNvPr id="8" name="Espace réservé du contenu 5"/>
          <p:cNvSpPr>
            <a:spLocks noGrp="1"/>
          </p:cNvSpPr>
          <p:nvPr>
            <p:ph sz="quarter" idx="13"/>
          </p:nvPr>
        </p:nvSpPr>
        <p:spPr>
          <a:xfrm>
            <a:off x="6190363" y="1673148"/>
            <a:ext cx="5393240" cy="4453016"/>
          </a:xfrm>
        </p:spPr>
        <p:txBody>
          <a:bodyPr/>
          <a:lstStyle/>
          <a:p>
            <a:pPr lvl="0"/>
            <a:r>
              <a:rPr lang="fr-CA" dirty="0"/>
              <a:t>Cliquez pour modifier les styles du texte du masque</a:t>
            </a:r>
          </a:p>
          <a:p>
            <a:pPr lvl="1"/>
            <a:r>
              <a:rPr lang="fr-CA" dirty="0"/>
              <a:t>Deuxième niveau</a:t>
            </a:r>
          </a:p>
          <a:p>
            <a:pPr lvl="2"/>
            <a:r>
              <a:rPr lang="fr-CA" dirty="0"/>
              <a:t>Troisième niveau</a:t>
            </a:r>
          </a:p>
          <a:p>
            <a:pPr lvl="3"/>
            <a:r>
              <a:rPr lang="fr-CA" dirty="0"/>
              <a:t>Quatrième niveau</a:t>
            </a:r>
          </a:p>
          <a:p>
            <a:pPr lvl="4"/>
            <a:r>
              <a:rPr lang="fr-CA" dirty="0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20175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B86A36-C025-4DC2-92DA-F7F578B64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99B66F-2295-4BFC-9658-24EBF65949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E5884-E56C-4A5C-8979-9CF7771DCE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59EF0F-D01D-41C0-B06A-1310E5A2CCBF}" type="datetimeFigureOut">
              <a:rPr lang="en-CA" smtClean="0"/>
              <a:t>2018-12-04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0BEC26-3671-4F60-9DB5-9B8C008186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3E5E4-D6B9-4312-A3A2-128325E8E5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5B68E3-0045-4B13-BE2C-82CC5B8E9D6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5041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E950855-28E0-B842-9330-3B380073FD02}" type="slidenum">
              <a:rPr lang="fr-FR" smtClean="0"/>
              <a:pPr/>
              <a:t>1</a:t>
            </a:fld>
            <a:endParaRPr lang="fr-FR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518" y="108636"/>
            <a:ext cx="8865123" cy="645381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EA9F0A-86D4-423E-9C8B-2916328F87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Camso 2018</a:t>
            </a:r>
            <a:endParaRPr lang="fr-F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2CD53C-6798-4E17-B938-779B83B67B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7563" y="298607"/>
            <a:ext cx="579170" cy="6325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8FA1A5-2835-464D-8E8F-D4946EA7C4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7621" y="298607"/>
            <a:ext cx="669182" cy="632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241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438" y="626847"/>
            <a:ext cx="9761537" cy="603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E950855-28E0-B842-9330-3B380073FD02}" type="slidenum">
              <a:rPr lang="fr-FR" smtClean="0"/>
              <a:pPr/>
              <a:t>2</a:t>
            </a:fld>
            <a:endParaRPr lang="fr-F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2B298-0A3D-400C-BCD2-DB9A905979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Camso 2018</a:t>
            </a:r>
            <a:endParaRPr lang="fr-FR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36795A3-4864-4A81-9005-C56772B30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39" y="174181"/>
            <a:ext cx="10515600" cy="827314"/>
          </a:xfrm>
        </p:spPr>
        <p:txBody>
          <a:bodyPr>
            <a:normAutofit fontScale="90000"/>
          </a:bodyPr>
          <a:lstStyle/>
          <a:p>
            <a:r>
              <a:rPr lang="en-US" u="sng" dirty="0">
                <a:solidFill>
                  <a:schemeClr val="tx2"/>
                </a:solidFill>
              </a:rPr>
              <a:t>Tire Product – CAD Document Lifecycle</a:t>
            </a:r>
            <a:br>
              <a:rPr lang="en-US" u="sng" dirty="0">
                <a:solidFill>
                  <a:schemeClr val="tx2"/>
                </a:solidFill>
              </a:rPr>
            </a:br>
            <a:endParaRPr lang="en-US" sz="3600" u="sng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1957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601122" y="1584652"/>
            <a:ext cx="1328141" cy="5478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200" dirty="0" err="1"/>
              <a:t>Submit</a:t>
            </a:r>
            <a:r>
              <a:rPr lang="fr-CA" sz="1200" dirty="0"/>
              <a:t> new Promotion </a:t>
            </a:r>
            <a:r>
              <a:rPr lang="fr-CA" sz="1200" dirty="0" err="1"/>
              <a:t>Request</a:t>
            </a:r>
            <a:endParaRPr lang="en-US" sz="1200" dirty="0"/>
          </a:p>
        </p:txBody>
      </p:sp>
      <p:sp>
        <p:nvSpPr>
          <p:cNvPr id="7" name="Pentagon 6"/>
          <p:cNvSpPr/>
          <p:nvPr/>
        </p:nvSpPr>
        <p:spPr>
          <a:xfrm>
            <a:off x="450873" y="1222348"/>
            <a:ext cx="11125236" cy="1371600"/>
          </a:xfrm>
          <a:prstGeom prst="homePlat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fr-CA" u="sng" dirty="0">
                <a:solidFill>
                  <a:schemeClr val="accent1"/>
                </a:solidFill>
              </a:rPr>
              <a:t>Creator</a:t>
            </a:r>
            <a:endParaRPr lang="en-US" u="sng" dirty="0">
              <a:solidFill>
                <a:schemeClr val="accent1"/>
              </a:solidFill>
            </a:endParaRPr>
          </a:p>
        </p:txBody>
      </p:sp>
      <p:sp>
        <p:nvSpPr>
          <p:cNvPr id="8" name="Pentagon 7"/>
          <p:cNvSpPr/>
          <p:nvPr/>
        </p:nvSpPr>
        <p:spPr>
          <a:xfrm>
            <a:off x="448646" y="2593948"/>
            <a:ext cx="11127787" cy="1371600"/>
          </a:xfrm>
          <a:prstGeom prst="homePlat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vert270" rtlCol="0" anchor="t">
            <a:noAutofit/>
          </a:bodyPr>
          <a:lstStyle/>
          <a:p>
            <a:pPr algn="ctr"/>
            <a:r>
              <a:rPr lang="fr-CA" u="sng" dirty="0" err="1">
                <a:solidFill>
                  <a:schemeClr val="accent1"/>
                </a:solidFill>
              </a:rPr>
              <a:t>Review</a:t>
            </a:r>
            <a:r>
              <a:rPr lang="fr-CA" u="sng" dirty="0">
                <a:solidFill>
                  <a:schemeClr val="accent1"/>
                </a:solidFill>
              </a:rPr>
              <a:t> 1</a:t>
            </a:r>
          </a:p>
          <a:p>
            <a:pPr algn="ctr"/>
            <a:r>
              <a:rPr lang="fr-CA" sz="1200" dirty="0">
                <a:solidFill>
                  <a:schemeClr val="accent1"/>
                </a:solidFill>
              </a:rPr>
              <a:t>(Design Check)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9" name="Pentagon 8"/>
          <p:cNvSpPr/>
          <p:nvPr/>
        </p:nvSpPr>
        <p:spPr>
          <a:xfrm>
            <a:off x="450104" y="3967801"/>
            <a:ext cx="11126118" cy="1371600"/>
          </a:xfrm>
          <a:prstGeom prst="homePlat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vert270" rtlCol="0" anchor="t"/>
          <a:lstStyle/>
          <a:p>
            <a:pPr algn="ctr"/>
            <a:r>
              <a:rPr lang="fr-CA" u="sng" dirty="0" err="1">
                <a:solidFill>
                  <a:schemeClr val="accent1"/>
                </a:solidFill>
              </a:rPr>
              <a:t>Review</a:t>
            </a:r>
            <a:r>
              <a:rPr lang="fr-CA" u="sng" dirty="0">
                <a:solidFill>
                  <a:schemeClr val="accent1"/>
                </a:solidFill>
              </a:rPr>
              <a:t> 2</a:t>
            </a:r>
          </a:p>
          <a:p>
            <a:pPr algn="ctr"/>
            <a:r>
              <a:rPr lang="fr-CA" sz="1200" dirty="0">
                <a:solidFill>
                  <a:schemeClr val="accent1"/>
                </a:solidFill>
              </a:rPr>
              <a:t>(R&amp;D Check)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10" name="Pentagon 9"/>
          <p:cNvSpPr/>
          <p:nvPr/>
        </p:nvSpPr>
        <p:spPr>
          <a:xfrm>
            <a:off x="450234" y="5338383"/>
            <a:ext cx="11125970" cy="1371600"/>
          </a:xfrm>
          <a:prstGeom prst="homePlat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vert270" rtlCol="0" anchor="t"/>
          <a:lstStyle/>
          <a:p>
            <a:pPr algn="ctr"/>
            <a:r>
              <a:rPr lang="fr-CA" u="sng" dirty="0" err="1">
                <a:solidFill>
                  <a:schemeClr val="accent1"/>
                </a:solidFill>
              </a:rPr>
              <a:t>Approver</a:t>
            </a:r>
            <a:endParaRPr lang="fr-CA" u="sng" dirty="0">
              <a:solidFill>
                <a:schemeClr val="accent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175129" y="3036371"/>
            <a:ext cx="914400" cy="48666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200" dirty="0"/>
              <a:t>First </a:t>
            </a:r>
            <a:r>
              <a:rPr lang="fr-CA" sz="1200" dirty="0" err="1"/>
              <a:t>Review</a:t>
            </a:r>
            <a:r>
              <a:rPr lang="fr-CA" sz="1200" dirty="0"/>
              <a:t> </a:t>
            </a:r>
          </a:p>
        </p:txBody>
      </p:sp>
      <p:cxnSp>
        <p:nvCxnSpPr>
          <p:cNvPr id="13" name="Elbow Connector 12"/>
          <p:cNvCxnSpPr>
            <a:cxnSpLocks/>
            <a:stCxn id="5" idx="2"/>
            <a:endCxn id="28" idx="0"/>
          </p:cNvCxnSpPr>
          <p:nvPr/>
        </p:nvCxnSpPr>
        <p:spPr>
          <a:xfrm rot="5400000">
            <a:off x="1874682" y="2520311"/>
            <a:ext cx="778315" cy="2709"/>
          </a:xfrm>
          <a:prstGeom prst="bentConnector3">
            <a:avLst>
              <a:gd name="adj1" fmla="val 50000"/>
            </a:avLst>
          </a:prstGeom>
          <a:ln w="28575"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883943" y="1437052"/>
            <a:ext cx="914400" cy="5380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200" dirty="0" err="1"/>
              <a:t>Rework</a:t>
            </a:r>
            <a:r>
              <a:rPr lang="fr-CA" sz="1200" dirty="0"/>
              <a:t> as per </a:t>
            </a:r>
            <a:r>
              <a:rPr lang="fr-CA" sz="1200" dirty="0" err="1"/>
              <a:t>review</a:t>
            </a:r>
            <a:endParaRPr lang="en-US" sz="1200" dirty="0"/>
          </a:p>
        </p:txBody>
      </p:sp>
      <p:sp>
        <p:nvSpPr>
          <p:cNvPr id="23" name="Rectangle 22"/>
          <p:cNvSpPr/>
          <p:nvPr/>
        </p:nvSpPr>
        <p:spPr>
          <a:xfrm>
            <a:off x="4467593" y="4423031"/>
            <a:ext cx="914400" cy="45496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200" dirty="0" err="1"/>
              <a:t>Review</a:t>
            </a:r>
            <a:r>
              <a:rPr lang="fr-CA" sz="1200" dirty="0"/>
              <a:t> </a:t>
            </a:r>
          </a:p>
          <a:p>
            <a:pPr algn="ctr"/>
            <a:r>
              <a:rPr lang="fr-CA" sz="1200" dirty="0" err="1"/>
              <a:t>Level</a:t>
            </a:r>
            <a:r>
              <a:rPr lang="fr-CA" sz="1200" dirty="0"/>
              <a:t> 2</a:t>
            </a:r>
            <a:endParaRPr lang="en-US" sz="1200" dirty="0"/>
          </a:p>
        </p:txBody>
      </p:sp>
      <p:grpSp>
        <p:nvGrpSpPr>
          <p:cNvPr id="30" name="Group 29"/>
          <p:cNvGrpSpPr/>
          <p:nvPr/>
        </p:nvGrpSpPr>
        <p:grpSpPr>
          <a:xfrm>
            <a:off x="1833485" y="4276912"/>
            <a:ext cx="857993" cy="731837"/>
            <a:chOff x="3707657" y="1890712"/>
            <a:chExt cx="857993" cy="731837"/>
          </a:xfrm>
        </p:grpSpPr>
        <p:sp>
          <p:nvSpPr>
            <p:cNvPr id="31" name="Diamond 30"/>
            <p:cNvSpPr/>
            <p:nvPr/>
          </p:nvSpPr>
          <p:spPr>
            <a:xfrm>
              <a:off x="3707657" y="1890712"/>
              <a:ext cx="857993" cy="731837"/>
            </a:xfrm>
            <a:prstGeom prst="diamond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sz="600" dirty="0">
                <a:solidFill>
                  <a:schemeClr val="tx2"/>
                </a:solidFill>
              </a:endParaRPr>
            </a:p>
            <a:p>
              <a:pPr algn="ctr"/>
              <a:endParaRPr lang="en-US" sz="600" dirty="0">
                <a:solidFill>
                  <a:schemeClr val="tx2"/>
                </a:solidFill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3793546" y="2041186"/>
              <a:ext cx="704040" cy="43088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fr-CA" sz="1100" dirty="0" err="1">
                  <a:solidFill>
                    <a:schemeClr val="tx2"/>
                  </a:solidFill>
                </a:rPr>
                <a:t>Review</a:t>
              </a:r>
              <a:r>
                <a:rPr lang="fr-CA" sz="1100" dirty="0">
                  <a:solidFill>
                    <a:schemeClr val="tx2"/>
                  </a:solidFill>
                </a:rPr>
                <a:t> 2</a:t>
              </a:r>
            </a:p>
            <a:p>
              <a:pPr algn="ctr"/>
              <a:r>
                <a:rPr lang="fr-CA" sz="1100" dirty="0" err="1">
                  <a:solidFill>
                    <a:schemeClr val="tx2"/>
                  </a:solidFill>
                </a:rPr>
                <a:t>Require</a:t>
              </a:r>
              <a:endParaRPr lang="en-US" sz="1100" dirty="0">
                <a:solidFill>
                  <a:schemeClr val="tx2"/>
                </a:solidFill>
              </a:endParaRPr>
            </a:p>
          </p:txBody>
        </p:sp>
      </p:grpSp>
      <p:cxnSp>
        <p:nvCxnSpPr>
          <p:cNvPr id="34" name="Elbow Connector 33"/>
          <p:cNvCxnSpPr>
            <a:cxnSpLocks/>
            <a:stCxn id="28" idx="3"/>
            <a:endCxn id="11" idx="1"/>
          </p:cNvCxnSpPr>
          <p:nvPr/>
        </p:nvCxnSpPr>
        <p:spPr>
          <a:xfrm>
            <a:off x="2691480" y="3276742"/>
            <a:ext cx="483649" cy="2963"/>
          </a:xfrm>
          <a:prstGeom prst="bentConnector3">
            <a:avLst>
              <a:gd name="adj1" fmla="val 50000"/>
            </a:avLst>
          </a:prstGeom>
          <a:ln w="28575"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/>
          <p:cNvCxnSpPr>
            <a:stCxn id="28" idx="2"/>
            <a:endCxn id="31" idx="0"/>
          </p:cNvCxnSpPr>
          <p:nvPr/>
        </p:nvCxnSpPr>
        <p:spPr>
          <a:xfrm rot="5400000">
            <a:off x="1945357" y="3959785"/>
            <a:ext cx="634252" cy="2"/>
          </a:xfrm>
          <a:prstGeom prst="bentConnector3">
            <a:avLst>
              <a:gd name="adj1" fmla="val 50000"/>
            </a:avLst>
          </a:prstGeom>
          <a:ln w="28575"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/>
          <p:cNvCxnSpPr>
            <a:cxnSpLocks/>
            <a:stCxn id="31" idx="3"/>
            <a:endCxn id="23" idx="1"/>
          </p:cNvCxnSpPr>
          <p:nvPr/>
        </p:nvCxnSpPr>
        <p:spPr>
          <a:xfrm>
            <a:off x="2691478" y="4642831"/>
            <a:ext cx="1776115" cy="7683"/>
          </a:xfrm>
          <a:prstGeom prst="bentConnector3">
            <a:avLst>
              <a:gd name="adj1" fmla="val 50000"/>
            </a:avLst>
          </a:prstGeom>
          <a:ln w="28575"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Elbow Connector 49"/>
          <p:cNvCxnSpPr>
            <a:cxnSpLocks/>
            <a:stCxn id="19" idx="1"/>
          </p:cNvCxnSpPr>
          <p:nvPr/>
        </p:nvCxnSpPr>
        <p:spPr>
          <a:xfrm rot="10800000" flipV="1">
            <a:off x="2294633" y="1706090"/>
            <a:ext cx="1589311" cy="841385"/>
          </a:xfrm>
          <a:prstGeom prst="bentConnector3">
            <a:avLst>
              <a:gd name="adj1" fmla="val 50000"/>
            </a:avLst>
          </a:prstGeom>
          <a:ln w="28575">
            <a:solidFill>
              <a:srgbClr val="FFC000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/>
          <p:cNvCxnSpPr>
            <a:cxnSpLocks/>
            <a:stCxn id="25" idx="2"/>
            <a:endCxn id="58" idx="1"/>
          </p:cNvCxnSpPr>
          <p:nvPr/>
        </p:nvCxnSpPr>
        <p:spPr>
          <a:xfrm rot="16200000" flipH="1">
            <a:off x="5853310" y="5238668"/>
            <a:ext cx="1062759" cy="598452"/>
          </a:xfrm>
          <a:prstGeom prst="bentConnector2">
            <a:avLst/>
          </a:prstGeom>
          <a:ln w="28575"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6683915" y="5740375"/>
            <a:ext cx="914400" cy="65779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200" dirty="0"/>
              <a:t>Final </a:t>
            </a:r>
          </a:p>
          <a:p>
            <a:pPr algn="ctr"/>
            <a:r>
              <a:rPr lang="fr-CA" sz="1200" dirty="0" err="1"/>
              <a:t>Approval</a:t>
            </a:r>
            <a:endParaRPr lang="en-US" sz="1200" dirty="0"/>
          </a:p>
        </p:txBody>
      </p:sp>
      <p:grpSp>
        <p:nvGrpSpPr>
          <p:cNvPr id="59" name="Group 58"/>
          <p:cNvGrpSpPr/>
          <p:nvPr/>
        </p:nvGrpSpPr>
        <p:grpSpPr>
          <a:xfrm>
            <a:off x="7951917" y="5693903"/>
            <a:ext cx="857993" cy="731837"/>
            <a:chOff x="3707657" y="1890712"/>
            <a:chExt cx="857993" cy="731837"/>
          </a:xfrm>
        </p:grpSpPr>
        <p:sp>
          <p:nvSpPr>
            <p:cNvPr id="60" name="Diamond 59"/>
            <p:cNvSpPr/>
            <p:nvPr/>
          </p:nvSpPr>
          <p:spPr>
            <a:xfrm>
              <a:off x="3707657" y="1890712"/>
              <a:ext cx="857993" cy="731837"/>
            </a:xfrm>
            <a:prstGeom prst="diamond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sz="600" dirty="0">
                <a:solidFill>
                  <a:schemeClr val="tx2"/>
                </a:solidFill>
              </a:endParaRPr>
            </a:p>
            <a:p>
              <a:pPr algn="ctr"/>
              <a:endParaRPr lang="en-US" sz="600" dirty="0">
                <a:solidFill>
                  <a:schemeClr val="tx2"/>
                </a:solidFill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3739702" y="2102741"/>
              <a:ext cx="80342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CA" sz="1400" dirty="0" err="1">
                  <a:solidFill>
                    <a:schemeClr val="tx2"/>
                  </a:solidFill>
                </a:rPr>
                <a:t>Decision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</p:grpSp>
      <p:sp>
        <p:nvSpPr>
          <p:cNvPr id="66" name="Flowchart: Terminator 65"/>
          <p:cNvSpPr/>
          <p:nvPr/>
        </p:nvSpPr>
        <p:spPr>
          <a:xfrm>
            <a:off x="9646500" y="5908946"/>
            <a:ext cx="914400" cy="301752"/>
          </a:xfrm>
          <a:prstGeom prst="flowChartTermina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End</a:t>
            </a:r>
            <a:endParaRPr lang="en-US" dirty="0"/>
          </a:p>
        </p:txBody>
      </p:sp>
      <p:cxnSp>
        <p:nvCxnSpPr>
          <p:cNvPr id="67" name="Elbow Connector 66"/>
          <p:cNvCxnSpPr>
            <a:cxnSpLocks/>
            <a:stCxn id="61" idx="3"/>
            <a:endCxn id="93" idx="1"/>
          </p:cNvCxnSpPr>
          <p:nvPr/>
        </p:nvCxnSpPr>
        <p:spPr>
          <a:xfrm flipV="1">
            <a:off x="8787387" y="4630125"/>
            <a:ext cx="859928" cy="1429696"/>
          </a:xfrm>
          <a:prstGeom prst="bentConnector3">
            <a:avLst>
              <a:gd name="adj1" fmla="val 50000"/>
            </a:avLst>
          </a:prstGeom>
          <a:ln w="28575"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Elbow Connector 70"/>
          <p:cNvCxnSpPr>
            <a:cxnSpLocks/>
            <a:stCxn id="60" idx="0"/>
            <a:endCxn id="19" idx="3"/>
          </p:cNvCxnSpPr>
          <p:nvPr/>
        </p:nvCxnSpPr>
        <p:spPr>
          <a:xfrm rot="16200000" flipV="1">
            <a:off x="4595723" y="1908711"/>
            <a:ext cx="3987812" cy="3582571"/>
          </a:xfrm>
          <a:prstGeom prst="bentConnector2">
            <a:avLst/>
          </a:prstGeom>
          <a:ln w="28575">
            <a:solidFill>
              <a:srgbClr val="FFC000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>
            <a:spLocks/>
          </p:cNvSpPr>
          <p:nvPr/>
        </p:nvSpPr>
        <p:spPr>
          <a:xfrm>
            <a:off x="4063302" y="3715657"/>
            <a:ext cx="1422659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r>
              <a:rPr lang="fr-CA" dirty="0" err="1"/>
              <a:t>Approve</a:t>
            </a:r>
            <a:r>
              <a:rPr lang="fr-CA" dirty="0"/>
              <a:t>/Rework</a:t>
            </a:r>
            <a:endParaRPr lang="en-US" dirty="0"/>
          </a:p>
        </p:txBody>
      </p:sp>
      <p:sp>
        <p:nvSpPr>
          <p:cNvPr id="83" name="TextBox 82"/>
          <p:cNvSpPr txBox="1">
            <a:spLocks/>
          </p:cNvSpPr>
          <p:nvPr/>
        </p:nvSpPr>
        <p:spPr>
          <a:xfrm>
            <a:off x="2659435" y="2967838"/>
            <a:ext cx="420624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r>
              <a:rPr lang="fr-CA" dirty="0"/>
              <a:t>Yes</a:t>
            </a:r>
            <a:endParaRPr lang="en-US" dirty="0"/>
          </a:p>
        </p:txBody>
      </p:sp>
      <p:sp>
        <p:nvSpPr>
          <p:cNvPr id="84" name="TextBox 83"/>
          <p:cNvSpPr txBox="1">
            <a:spLocks/>
          </p:cNvSpPr>
          <p:nvPr/>
        </p:nvSpPr>
        <p:spPr>
          <a:xfrm>
            <a:off x="2938059" y="4552458"/>
            <a:ext cx="457200" cy="1785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fr-CA" sz="1400" dirty="0" err="1">
                <a:solidFill>
                  <a:schemeClr val="tx2"/>
                </a:solidFill>
              </a:rPr>
              <a:t>Yes</a:t>
            </a:r>
            <a:endParaRPr lang="en-US" sz="1400" dirty="0">
              <a:solidFill>
                <a:schemeClr val="tx2"/>
              </a:solidFill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5656466" y="4274678"/>
            <a:ext cx="857993" cy="731837"/>
            <a:chOff x="3707657" y="1890712"/>
            <a:chExt cx="857993" cy="731837"/>
          </a:xfrm>
        </p:grpSpPr>
        <p:sp>
          <p:nvSpPr>
            <p:cNvPr id="25" name="Diamond 24"/>
            <p:cNvSpPr/>
            <p:nvPr/>
          </p:nvSpPr>
          <p:spPr>
            <a:xfrm>
              <a:off x="3707657" y="1890712"/>
              <a:ext cx="857993" cy="731837"/>
            </a:xfrm>
            <a:prstGeom prst="diamond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sz="600" dirty="0">
                <a:solidFill>
                  <a:schemeClr val="tx2"/>
                </a:solidFill>
              </a:endParaRPr>
            </a:p>
            <a:p>
              <a:pPr algn="ctr"/>
              <a:endParaRPr lang="en-US" sz="600" dirty="0">
                <a:solidFill>
                  <a:schemeClr val="tx2"/>
                </a:solidFill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739702" y="2102741"/>
              <a:ext cx="80342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CA" sz="1400" dirty="0" err="1">
                  <a:solidFill>
                    <a:schemeClr val="tx2"/>
                  </a:solidFill>
                </a:rPr>
                <a:t>Decision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</p:grpSp>
      <p:sp>
        <p:nvSpPr>
          <p:cNvPr id="85" name="TextBox 84"/>
          <p:cNvSpPr txBox="1">
            <a:spLocks/>
          </p:cNvSpPr>
          <p:nvPr/>
        </p:nvSpPr>
        <p:spPr>
          <a:xfrm>
            <a:off x="1495942" y="3738809"/>
            <a:ext cx="1787814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CA" sz="1400" dirty="0">
                <a:solidFill>
                  <a:schemeClr val="tx2"/>
                </a:solidFill>
              </a:rPr>
              <a:t>No or R1approved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1833487" y="2910823"/>
            <a:ext cx="857993" cy="731837"/>
            <a:chOff x="3707657" y="1890712"/>
            <a:chExt cx="857993" cy="731837"/>
          </a:xfrm>
        </p:grpSpPr>
        <p:sp>
          <p:nvSpPr>
            <p:cNvPr id="28" name="Diamond 27"/>
            <p:cNvSpPr/>
            <p:nvPr/>
          </p:nvSpPr>
          <p:spPr>
            <a:xfrm>
              <a:off x="3707657" y="1890712"/>
              <a:ext cx="857993" cy="731837"/>
            </a:xfrm>
            <a:prstGeom prst="diamond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sz="600" dirty="0">
                <a:solidFill>
                  <a:schemeClr val="tx2"/>
                </a:solidFill>
              </a:endParaRPr>
            </a:p>
            <a:p>
              <a:pPr algn="ctr"/>
              <a:endParaRPr lang="en-US" sz="600" dirty="0">
                <a:solidFill>
                  <a:schemeClr val="tx2"/>
                </a:solidFill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789392" y="2044193"/>
              <a:ext cx="704039" cy="43088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fr-CA" sz="1100" dirty="0" err="1">
                  <a:solidFill>
                    <a:schemeClr val="tx2"/>
                  </a:solidFill>
                </a:rPr>
                <a:t>Review</a:t>
              </a:r>
              <a:r>
                <a:rPr lang="fr-CA" sz="1100" dirty="0">
                  <a:solidFill>
                    <a:schemeClr val="tx2"/>
                  </a:solidFill>
                </a:rPr>
                <a:t> 1</a:t>
              </a:r>
            </a:p>
            <a:p>
              <a:pPr algn="ctr"/>
              <a:r>
                <a:rPr lang="fr-CA" sz="1100" dirty="0" err="1">
                  <a:solidFill>
                    <a:schemeClr val="tx2"/>
                  </a:solidFill>
                </a:rPr>
                <a:t>Require</a:t>
              </a:r>
              <a:endParaRPr lang="en-US" sz="1100" dirty="0">
                <a:solidFill>
                  <a:schemeClr val="tx2"/>
                </a:solidFill>
              </a:endParaRPr>
            </a:p>
          </p:txBody>
        </p:sp>
      </p:grpSp>
      <p:cxnSp>
        <p:nvCxnSpPr>
          <p:cNvPr id="88" name="Elbow Connector 87"/>
          <p:cNvCxnSpPr>
            <a:cxnSpLocks/>
            <a:stCxn id="31" idx="2"/>
            <a:endCxn id="58" idx="1"/>
          </p:cNvCxnSpPr>
          <p:nvPr/>
        </p:nvCxnSpPr>
        <p:spPr>
          <a:xfrm rot="16200000" flipH="1">
            <a:off x="3942936" y="3328294"/>
            <a:ext cx="1060525" cy="4421433"/>
          </a:xfrm>
          <a:prstGeom prst="bentConnector2">
            <a:avLst/>
          </a:prstGeom>
          <a:ln w="28575"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>
            <a:spLocks/>
          </p:cNvSpPr>
          <p:nvPr/>
        </p:nvSpPr>
        <p:spPr>
          <a:xfrm>
            <a:off x="5659645" y="5133375"/>
            <a:ext cx="847919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r>
              <a:rPr lang="fr-CA" dirty="0" err="1"/>
              <a:t>Approve</a:t>
            </a:r>
            <a:endParaRPr lang="en-US" dirty="0"/>
          </a:p>
        </p:txBody>
      </p:sp>
      <p:sp>
        <p:nvSpPr>
          <p:cNvPr id="93" name="Rectangle 92"/>
          <p:cNvSpPr/>
          <p:nvPr/>
        </p:nvSpPr>
        <p:spPr>
          <a:xfrm>
            <a:off x="9647315" y="4276912"/>
            <a:ext cx="914400" cy="70642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 dirty="0"/>
              <a:t>Notification </a:t>
            </a:r>
          </a:p>
        </p:txBody>
      </p:sp>
      <p:cxnSp>
        <p:nvCxnSpPr>
          <p:cNvPr id="94" name="Elbow Connector 93"/>
          <p:cNvCxnSpPr>
            <a:cxnSpLocks/>
            <a:stCxn id="25" idx="3"/>
            <a:endCxn id="93" idx="0"/>
          </p:cNvCxnSpPr>
          <p:nvPr/>
        </p:nvCxnSpPr>
        <p:spPr>
          <a:xfrm flipV="1">
            <a:off x="6514459" y="4276912"/>
            <a:ext cx="3590056" cy="363685"/>
          </a:xfrm>
          <a:prstGeom prst="bentConnector4">
            <a:avLst>
              <a:gd name="adj1" fmla="val 43632"/>
              <a:gd name="adj2" fmla="val 163471"/>
            </a:avLst>
          </a:prstGeom>
          <a:ln w="28575">
            <a:solidFill>
              <a:srgbClr val="FF0000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Elbow Connector 97"/>
          <p:cNvCxnSpPr>
            <a:cxnSpLocks/>
            <a:stCxn id="6" idx="3"/>
            <a:endCxn id="93" idx="0"/>
          </p:cNvCxnSpPr>
          <p:nvPr/>
        </p:nvCxnSpPr>
        <p:spPr>
          <a:xfrm>
            <a:off x="5336875" y="3276848"/>
            <a:ext cx="4767640" cy="1000064"/>
          </a:xfrm>
          <a:prstGeom prst="bentConnector2">
            <a:avLst/>
          </a:prstGeom>
          <a:ln w="28575">
            <a:solidFill>
              <a:srgbClr val="FF0000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Elbow Connector 100"/>
          <p:cNvCxnSpPr>
            <a:stCxn id="93" idx="2"/>
            <a:endCxn id="66" idx="0"/>
          </p:cNvCxnSpPr>
          <p:nvPr/>
        </p:nvCxnSpPr>
        <p:spPr>
          <a:xfrm rot="5400000">
            <a:off x="9641304" y="5445735"/>
            <a:ext cx="925608" cy="815"/>
          </a:xfrm>
          <a:prstGeom prst="bentConnector3">
            <a:avLst>
              <a:gd name="adj1" fmla="val 50000"/>
            </a:avLst>
          </a:prstGeom>
          <a:ln w="28575"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>
            <a:spLocks/>
          </p:cNvSpPr>
          <p:nvPr/>
        </p:nvSpPr>
        <p:spPr>
          <a:xfrm>
            <a:off x="7128783" y="3121842"/>
            <a:ext cx="640080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r>
              <a:rPr lang="fr-CA" dirty="0" err="1"/>
              <a:t>Reject</a:t>
            </a:r>
            <a:endParaRPr lang="en-US" dirty="0"/>
          </a:p>
        </p:txBody>
      </p:sp>
      <p:cxnSp>
        <p:nvCxnSpPr>
          <p:cNvPr id="53" name="Elbow Connector 52"/>
          <p:cNvCxnSpPr>
            <a:cxnSpLocks/>
            <a:stCxn id="25" idx="0"/>
            <a:endCxn id="19" idx="3"/>
          </p:cNvCxnSpPr>
          <p:nvPr/>
        </p:nvCxnSpPr>
        <p:spPr>
          <a:xfrm rot="16200000" flipV="1">
            <a:off x="4157610" y="2346825"/>
            <a:ext cx="2568587" cy="1287120"/>
          </a:xfrm>
          <a:prstGeom prst="bentConnector2">
            <a:avLst/>
          </a:prstGeom>
          <a:ln w="28575">
            <a:solidFill>
              <a:srgbClr val="FFC000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/>
          <p:cNvGrpSpPr/>
          <p:nvPr/>
        </p:nvGrpSpPr>
        <p:grpSpPr>
          <a:xfrm>
            <a:off x="4478882" y="2910929"/>
            <a:ext cx="857993" cy="731837"/>
            <a:chOff x="3707657" y="1890712"/>
            <a:chExt cx="857993" cy="731837"/>
          </a:xfrm>
        </p:grpSpPr>
        <p:sp>
          <p:nvSpPr>
            <p:cNvPr id="6" name="Diamond 5"/>
            <p:cNvSpPr/>
            <p:nvPr/>
          </p:nvSpPr>
          <p:spPr>
            <a:xfrm>
              <a:off x="3707657" y="1890712"/>
              <a:ext cx="857993" cy="731837"/>
            </a:xfrm>
            <a:prstGeom prst="diamond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sz="600" dirty="0">
                <a:solidFill>
                  <a:schemeClr val="tx2"/>
                </a:solidFill>
              </a:endParaRPr>
            </a:p>
            <a:p>
              <a:pPr algn="ctr"/>
              <a:endParaRPr lang="en-US" sz="600" dirty="0">
                <a:solidFill>
                  <a:schemeClr val="tx2"/>
                </a:solidFill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739702" y="2102741"/>
              <a:ext cx="80342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CA" sz="1400" dirty="0" err="1">
                  <a:solidFill>
                    <a:schemeClr val="tx2"/>
                  </a:solidFill>
                </a:rPr>
                <a:t>Decision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</p:grpSp>
      <p:sp>
        <p:nvSpPr>
          <p:cNvPr id="91" name="TextBox 90"/>
          <p:cNvSpPr txBox="1">
            <a:spLocks/>
          </p:cNvSpPr>
          <p:nvPr/>
        </p:nvSpPr>
        <p:spPr>
          <a:xfrm>
            <a:off x="5528842" y="3377815"/>
            <a:ext cx="1406507" cy="7386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r>
              <a:rPr lang="fr-CA" dirty="0"/>
              <a:t>Rework or R2 app. &amp; R1 Rework</a:t>
            </a:r>
            <a:endParaRPr lang="en-US" dirty="0"/>
          </a:p>
        </p:txBody>
      </p:sp>
      <p:sp>
        <p:nvSpPr>
          <p:cNvPr id="107" name="TextBox 106"/>
          <p:cNvSpPr txBox="1">
            <a:spLocks/>
          </p:cNvSpPr>
          <p:nvPr/>
        </p:nvSpPr>
        <p:spPr>
          <a:xfrm>
            <a:off x="8805454" y="5515148"/>
            <a:ext cx="847919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r>
              <a:rPr lang="fr-CA" dirty="0" err="1"/>
              <a:t>Approve</a:t>
            </a:r>
            <a:endParaRPr lang="en-US" dirty="0"/>
          </a:p>
        </p:txBody>
      </p:sp>
      <p:sp>
        <p:nvSpPr>
          <p:cNvPr id="108" name="TextBox 107"/>
          <p:cNvSpPr txBox="1">
            <a:spLocks/>
          </p:cNvSpPr>
          <p:nvPr/>
        </p:nvSpPr>
        <p:spPr>
          <a:xfrm>
            <a:off x="8022590" y="4911086"/>
            <a:ext cx="727610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r>
              <a:rPr lang="fr-CA" dirty="0"/>
              <a:t>Rework</a:t>
            </a:r>
            <a:endParaRPr lang="en-US" dirty="0"/>
          </a:p>
        </p:txBody>
      </p:sp>
      <p:sp>
        <p:nvSpPr>
          <p:cNvPr id="109" name="Title 1">
            <a:extLst>
              <a:ext uri="{FF2B5EF4-FFF2-40B4-BE49-F238E27FC236}">
                <a16:creationId xmlns:a16="http://schemas.microsoft.com/office/drawing/2014/main" id="{E36795A3-4864-4A81-9005-C56772B30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39" y="174181"/>
            <a:ext cx="10515600" cy="827314"/>
          </a:xfrm>
        </p:spPr>
        <p:txBody>
          <a:bodyPr>
            <a:normAutofit fontScale="90000"/>
          </a:bodyPr>
          <a:lstStyle/>
          <a:p>
            <a:r>
              <a:rPr lang="en-US" u="sng" dirty="0">
                <a:solidFill>
                  <a:schemeClr val="tx2"/>
                </a:solidFill>
              </a:rPr>
              <a:t>Tire Product &amp; Mold Approval Workflow</a:t>
            </a:r>
            <a:br>
              <a:rPr lang="en-US" u="sng" dirty="0">
                <a:solidFill>
                  <a:schemeClr val="tx2"/>
                </a:solidFill>
              </a:rPr>
            </a:br>
            <a:r>
              <a:rPr lang="en-US" sz="3600" dirty="0">
                <a:solidFill>
                  <a:schemeClr val="tx2"/>
                </a:solidFill>
              </a:rPr>
              <a:t>“Promotion Request Process”</a:t>
            </a:r>
            <a:endParaRPr lang="en-US" sz="3600" u="sng" dirty="0">
              <a:solidFill>
                <a:schemeClr val="tx2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8695" y="1437052"/>
            <a:ext cx="2286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2" name="Elbow Connector 61"/>
          <p:cNvCxnSpPr>
            <a:stCxn id="60" idx="2"/>
            <a:endCxn id="93" idx="3"/>
          </p:cNvCxnSpPr>
          <p:nvPr/>
        </p:nvCxnSpPr>
        <p:spPr>
          <a:xfrm rot="5400000" flipH="1" flipV="1">
            <a:off x="8573506" y="4437532"/>
            <a:ext cx="1795615" cy="2180801"/>
          </a:xfrm>
          <a:prstGeom prst="bentConnector4">
            <a:avLst>
              <a:gd name="adj1" fmla="val -12731"/>
              <a:gd name="adj2" fmla="val 110482"/>
            </a:avLst>
          </a:prstGeom>
          <a:ln w="28575">
            <a:solidFill>
              <a:srgbClr val="FF0000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>
            <a:spLocks/>
          </p:cNvSpPr>
          <p:nvPr/>
        </p:nvSpPr>
        <p:spPr>
          <a:xfrm>
            <a:off x="9093659" y="6398173"/>
            <a:ext cx="640080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r>
              <a:rPr lang="fr-CA" dirty="0" err="1"/>
              <a:t>Reject</a:t>
            </a:r>
            <a:endParaRPr lang="en-US" dirty="0"/>
          </a:p>
        </p:txBody>
      </p:sp>
      <p:sp>
        <p:nvSpPr>
          <p:cNvPr id="86" name="TextBox 85"/>
          <p:cNvSpPr txBox="1">
            <a:spLocks/>
          </p:cNvSpPr>
          <p:nvPr/>
        </p:nvSpPr>
        <p:spPr>
          <a:xfrm>
            <a:off x="1589151" y="5253536"/>
            <a:ext cx="1787814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fr-CA" sz="1400" dirty="0">
                <a:solidFill>
                  <a:schemeClr val="tx2"/>
                </a:solidFill>
              </a:rPr>
              <a:t>No or R2 </a:t>
            </a:r>
            <a:r>
              <a:rPr lang="en-CA" sz="1400" dirty="0">
                <a:solidFill>
                  <a:schemeClr val="tx2"/>
                </a:solidFill>
              </a:rPr>
              <a:t>approved</a:t>
            </a:r>
          </a:p>
        </p:txBody>
      </p:sp>
      <p:cxnSp>
        <p:nvCxnSpPr>
          <p:cNvPr id="47" name="Elbow Connector 46"/>
          <p:cNvCxnSpPr>
            <a:cxnSpLocks/>
            <a:stCxn id="6" idx="2"/>
          </p:cNvCxnSpPr>
          <p:nvPr/>
        </p:nvCxnSpPr>
        <p:spPr>
          <a:xfrm rot="5400000">
            <a:off x="3353110" y="2574663"/>
            <a:ext cx="486667" cy="2622872"/>
          </a:xfrm>
          <a:prstGeom prst="bentConnector2">
            <a:avLst/>
          </a:prstGeom>
          <a:ln w="28575"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Elbow Connector 42">
            <a:extLst>
              <a:ext uri="{FF2B5EF4-FFF2-40B4-BE49-F238E27FC236}">
                <a16:creationId xmlns:a16="http://schemas.microsoft.com/office/drawing/2014/main" id="{37865A8F-8EFD-405F-99BF-3EB0E85DC21A}"/>
              </a:ext>
            </a:extLst>
          </p:cNvPr>
          <p:cNvCxnSpPr>
            <a:cxnSpLocks/>
            <a:stCxn id="58" idx="3"/>
          </p:cNvCxnSpPr>
          <p:nvPr/>
        </p:nvCxnSpPr>
        <p:spPr>
          <a:xfrm flipV="1">
            <a:off x="7598315" y="6068688"/>
            <a:ext cx="392982" cy="586"/>
          </a:xfrm>
          <a:prstGeom prst="bentConnector3">
            <a:avLst>
              <a:gd name="adj1" fmla="val 50000"/>
            </a:avLst>
          </a:prstGeom>
          <a:ln w="28575"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>
            <a:spLocks/>
          </p:cNvSpPr>
          <p:nvPr/>
        </p:nvSpPr>
        <p:spPr>
          <a:xfrm>
            <a:off x="7212374" y="4500537"/>
            <a:ext cx="640080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r>
              <a:rPr lang="fr-CA" dirty="0" err="1"/>
              <a:t>Reject</a:t>
            </a:r>
            <a:endParaRPr lang="en-US" dirty="0"/>
          </a:p>
        </p:txBody>
      </p:sp>
      <p:cxnSp>
        <p:nvCxnSpPr>
          <p:cNvPr id="77" name="Elbow Connector 42">
            <a:extLst>
              <a:ext uri="{FF2B5EF4-FFF2-40B4-BE49-F238E27FC236}">
                <a16:creationId xmlns:a16="http://schemas.microsoft.com/office/drawing/2014/main" id="{273CD204-DFA1-428E-9C0F-72600CF9F6B7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5381993" y="4638050"/>
            <a:ext cx="274473" cy="2547"/>
          </a:xfrm>
          <a:prstGeom prst="bentConnector3">
            <a:avLst>
              <a:gd name="adj1" fmla="val 50000"/>
            </a:avLst>
          </a:prstGeom>
          <a:ln w="28575"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Elbow Connector 42">
            <a:extLst>
              <a:ext uri="{FF2B5EF4-FFF2-40B4-BE49-F238E27FC236}">
                <a16:creationId xmlns:a16="http://schemas.microsoft.com/office/drawing/2014/main" id="{856A69FE-1BC4-4AB0-912A-770C7CC8E04B}"/>
              </a:ext>
            </a:extLst>
          </p:cNvPr>
          <p:cNvCxnSpPr>
            <a:cxnSpLocks/>
            <a:stCxn id="11" idx="3"/>
            <a:endCxn id="6" idx="1"/>
          </p:cNvCxnSpPr>
          <p:nvPr/>
        </p:nvCxnSpPr>
        <p:spPr>
          <a:xfrm flipV="1">
            <a:off x="4089529" y="3276848"/>
            <a:ext cx="389353" cy="2857"/>
          </a:xfrm>
          <a:prstGeom prst="bentConnector3">
            <a:avLst>
              <a:gd name="adj1" fmla="val 50000"/>
            </a:avLst>
          </a:prstGeom>
          <a:ln w="28575"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Elbow Connector 49">
            <a:extLst>
              <a:ext uri="{FF2B5EF4-FFF2-40B4-BE49-F238E27FC236}">
                <a16:creationId xmlns:a16="http://schemas.microsoft.com/office/drawing/2014/main" id="{97CF99F3-1A69-4CCE-A22D-86F659F92D52}"/>
              </a:ext>
            </a:extLst>
          </p:cNvPr>
          <p:cNvCxnSpPr>
            <a:cxnSpLocks/>
            <a:stCxn id="31" idx="1"/>
            <a:endCxn id="19" idx="0"/>
          </p:cNvCxnSpPr>
          <p:nvPr/>
        </p:nvCxnSpPr>
        <p:spPr>
          <a:xfrm rot="10800000" flipH="1">
            <a:off x="1833485" y="1437053"/>
            <a:ext cx="2507658" cy="3205779"/>
          </a:xfrm>
          <a:prstGeom prst="bentConnector4">
            <a:avLst>
              <a:gd name="adj1" fmla="val -25244"/>
              <a:gd name="adj2" fmla="val 103840"/>
            </a:avLst>
          </a:prstGeom>
          <a:ln w="28575">
            <a:solidFill>
              <a:srgbClr val="FFC000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70306582-133C-45FF-9739-B7D101A8BBE5}"/>
              </a:ext>
            </a:extLst>
          </p:cNvPr>
          <p:cNvSpPr txBox="1">
            <a:spLocks/>
          </p:cNvSpPr>
          <p:nvPr/>
        </p:nvSpPr>
        <p:spPr>
          <a:xfrm>
            <a:off x="1037285" y="4251589"/>
            <a:ext cx="727610" cy="7386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r>
              <a:rPr lang="fr-CA" dirty="0"/>
              <a:t>No R2 &amp; Rework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201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_Number xmlns="dfcd524f-cc3b-4812-91e6-659126a82d5f">0086</Doc_Number>
    <Role xmlns="dfcd524f-cc3b-4812-91e6-659126a82d5f">Designer</Role>
    <Ribbon_x0020__x002f__x0020_Function xmlns="dfcd524f-cc3b-4812-91e6-659126a82d5f" xsi:nil="true"/>
    <Tag_x0020_introduction xmlns="dfcd524f-cc3b-4812-91e6-659126a82d5f">true</Tag_x0020_introduction>
    <Category_x0020_1 xmlns="dfcd524f-cc3b-4812-91e6-659126a82d5f">PLM</Category_x0020_1>
    <BU xmlns="dfcd524f-cc3b-4812-91e6-659126a82d5f">Construction</BU>
    <Ribbon_x0020_Or_x0020_Function xmlns="dfcd524f-cc3b-4812-91e6-659126a82d5f" xsi:nil="true"/>
    <Actions xmlns="dfcd524f-cc3b-4812-91e6-659126a82d5f">&lt;Actions&gt;&lt;Run&gt;&lt;/Run&gt;&lt;History&gt;&lt;Execution ActionID="2315d02c-4d10-48e4-9738-5f4fba18dcd1" Date="10/30/2018 2:26:58 PM" Outcome="Warning" UserID="288" Message="Cannot update file path using synchronous actions" /&gt;&lt;Execution ActionID="2315d02c-4d10-48e4-9738-5f4fba18dcd1" Date="10/30/2018 2:25:18 PM" Outcome="Warning" UserID="288" Message="Cannot update file path using synchronous actions" /&gt;&lt;/History&gt;&lt;/Actions&gt;</Actions>
    <Document_x0020_Type xmlns="dfcd524f-cc3b-4812-91e6-659126a82d5f">Trainings</Document_x0020_Type>
    <Logo xmlns="dfcd524f-cc3b-4812-91e6-659126a82d5f">Process</Logo>
    <Description0 xmlns="dfcd524f-cc3b-4812-91e6-659126a82d5f">Windchill and CAD Application Architecture
Promotion Workflow and transition alignment</Description0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92EBB2F281A77438476D53DB8DE4B8B" ma:contentTypeVersion="33" ma:contentTypeDescription="Create a new document." ma:contentTypeScope="" ma:versionID="4e77300b9ae4403007b0b43548f4b568">
  <xsd:schema xmlns:xsd="http://www.w3.org/2001/XMLSchema" xmlns:xs="http://www.w3.org/2001/XMLSchema" xmlns:p="http://schemas.microsoft.com/office/2006/metadata/properties" xmlns:ns2="dfcd524f-cc3b-4812-91e6-659126a82d5f" targetNamespace="http://schemas.microsoft.com/office/2006/metadata/properties" ma:root="true" ma:fieldsID="3bf2445bfb82c50bf3a95f878623a669" ns2:_="">
    <xsd:import namespace="dfcd524f-cc3b-4812-91e6-659126a82d5f"/>
    <xsd:element name="properties">
      <xsd:complexType>
        <xsd:sequence>
          <xsd:element name="documentManagement">
            <xsd:complexType>
              <xsd:all>
                <xsd:element ref="ns2:Document_x0020_Type" minOccurs="0"/>
                <xsd:element ref="ns2:Category_x0020_1" minOccurs="0"/>
                <xsd:element ref="ns2:Logo" minOccurs="0"/>
                <xsd:element ref="ns2:Description0" minOccurs="0"/>
                <xsd:element ref="ns2:BU" minOccurs="0"/>
                <xsd:element ref="ns2:Role" minOccurs="0"/>
                <xsd:element ref="ns2:Tag_x0020_introduction" minOccurs="0"/>
                <xsd:element ref="ns2:Ribbon_x0020_Or_x0020_Function" minOccurs="0"/>
                <xsd:element ref="ns2:Ribbon_x0020__x002f__x0020_Function" minOccurs="0"/>
                <xsd:element ref="ns2:Doc_Number"/>
                <xsd:element ref="ns2:Act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d524f-cc3b-4812-91e6-659126a82d5f" elementFormDefault="qualified">
    <xsd:import namespace="http://schemas.microsoft.com/office/2006/documentManagement/types"/>
    <xsd:import namespace="http://schemas.microsoft.com/office/infopath/2007/PartnerControls"/>
    <xsd:element name="Document_x0020_Type" ma:index="1" nillable="true" ma:displayName="Document Type" ma:default="Best Practice" ma:description="PLM CAD Document type" ma:format="Dropdown" ma:internalName="Document_x0020_Type">
      <xsd:simpleType>
        <xsd:restriction base="dms:Choice">
          <xsd:enumeration value="Best Practice"/>
          <xsd:enumeration value="Work Instruction"/>
          <xsd:enumeration value="Tips &amp; Tricks"/>
          <xsd:enumeration value="Issue Solution"/>
          <xsd:enumeration value="Trainings"/>
        </xsd:restriction>
      </xsd:simpleType>
    </xsd:element>
    <xsd:element name="Category_x0020_1" ma:index="2" nillable="true" ma:displayName="Software" ma:default="PLM" ma:format="Dropdown" ma:internalName="Category_x0020_1">
      <xsd:simpleType>
        <xsd:restriction base="dms:Choice">
          <xsd:enumeration value="PLM"/>
          <xsd:enumeration value="All CAD"/>
          <xsd:enumeration value="Creo Parametric"/>
          <xsd:enumeration value="Creo View"/>
          <xsd:enumeration value="Creo Illustrate"/>
          <xsd:enumeration value="Solidworks"/>
          <xsd:enumeration value="Autodesk"/>
        </xsd:restriction>
      </xsd:simpleType>
    </xsd:element>
    <xsd:element name="Logo" ma:index="3" nillable="true" ma:displayName="Object Type" ma:default="" ma:description="To categorize training documents" ma:format="Dropdown" ma:internalName="Logo">
      <xsd:simpleType>
        <xsd:restriction base="dms:Unknown">
          <xsd:enumeration value="2D/Drawings"/>
          <xsd:enumeration value="3D/Models"/>
          <xsd:enumeration value="FEA"/>
          <xsd:enumeration value="Documents"/>
          <xsd:enumeration value="Interface"/>
          <xsd:enumeration value="Process"/>
          <xsd:enumeration value="General"/>
          <xsd:enumeration value="Change Process"/>
          <xsd:enumeration value="Promotion Process"/>
          <xsd:enumeration value="Package Process"/>
        </xsd:restriction>
      </xsd:simpleType>
    </xsd:element>
    <xsd:element name="Description0" ma:index="4" nillable="true" ma:displayName="Description" ma:internalName="Description0">
      <xsd:simpleType>
        <xsd:restriction base="dms:Note">
          <xsd:maxLength value="255"/>
        </xsd:restriction>
      </xsd:simpleType>
    </xsd:element>
    <xsd:element name="BU" ma:index="5" nillable="true" ma:displayName="BU" ma:default="All" ma:format="Dropdown" ma:internalName="BU">
      <xsd:simpleType>
        <xsd:restriction base="dms:Choice">
          <xsd:enumeration value="All"/>
          <xsd:enumeration value="AG UC"/>
          <xsd:enumeration value="AG Track"/>
          <xsd:enumeration value="Construction"/>
          <xsd:enumeration value="Toolings"/>
          <xsd:enumeration value="Power Sports"/>
        </xsd:restriction>
      </xsd:simpleType>
    </xsd:element>
    <xsd:element name="Role" ma:index="6" nillable="true" ma:displayName="Role" ma:default="All" ma:format="Dropdown" ma:internalName="Role">
      <xsd:simpleType>
        <xsd:restriction base="dms:Choice">
          <xsd:enumeration value="All"/>
          <xsd:enumeration value="Designer"/>
          <xsd:enumeration value="Engineer"/>
          <xsd:enumeration value="Manufacturing"/>
          <xsd:enumeration value="Purchasing"/>
          <xsd:enumeration value="Quality"/>
        </xsd:restriction>
      </xsd:simpleType>
    </xsd:element>
    <xsd:element name="Tag_x0020_introduction" ma:index="7" nillable="true" ma:displayName="Tag introduction" ma:default="0" ma:internalName="Tag_x0020_introduction">
      <xsd:simpleType>
        <xsd:restriction base="dms:Boolean"/>
      </xsd:simpleType>
    </xsd:element>
    <xsd:element name="Ribbon_x0020_Or_x0020_Function" ma:index="8" nillable="true" ma:displayName="Ribbon Or Function" ma:hidden="true" ma:internalName="Ribbon_x0020_Or_x0020_Function" ma:readOnly="false">
      <xsd:simpleType>
        <xsd:restriction base="dms:Text">
          <xsd:maxLength value="255"/>
        </xsd:restriction>
      </xsd:simpleType>
    </xsd:element>
    <xsd:element name="Ribbon_x0020__x002f__x0020_Function" ma:index="9" nillable="true" ma:displayName="Ribbon / Function" ma:hidden="true" ma:internalName="Ribbon_x0020__x002f__x0020_Function" ma:readOnly="false">
      <xsd:simpleType>
        <xsd:restriction base="dms:Text">
          <xsd:maxLength value="255"/>
        </xsd:restriction>
      </xsd:simpleType>
    </xsd:element>
    <xsd:element name="Doc_Number" ma:index="17" ma:displayName="Doc_Number" ma:indexed="true" ma:internalName="Doc_Number">
      <xsd:simpleType>
        <xsd:restriction base="dms:Text">
          <xsd:maxLength value="4"/>
        </xsd:restriction>
      </xsd:simpleType>
    </xsd:element>
    <xsd:element name="Actions" ma:index="18" nillable="true" ma:displayName="Actions" ma:internalName="Actions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4" ma:displayName="Content Type"/>
        <xsd:element ref="dc:title" minOccurs="0" maxOccurs="1" ma:index="13" ma:displayName="Doc Number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69371FC-F536-46D5-A094-07353EA6DF0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9763990-68FE-461F-8D51-5915E57B2CBD}">
  <ds:schemaRefs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dfcd524f-cc3b-4812-91e6-659126a82d5f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E830AF4E-C69E-4A60-BB99-5AD0C0209E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fcd524f-cc3b-4812-91e6-659126a82d5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92</Words>
  <Application>Microsoft Office PowerPoint</Application>
  <PresentationFormat>Widescreen</PresentationFormat>
  <Paragraphs>43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Tire Product – CAD Document Lifecycle </vt:lpstr>
      <vt:lpstr>Tire Product &amp; Mold Approval Workflow “Promotion Request Process”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0086</dc:title>
  <dc:creator>Steve Martel</dc:creator>
  <cp:lastModifiedBy>Steve Martel</cp:lastModifiedBy>
  <cp:revision>29</cp:revision>
  <dcterms:created xsi:type="dcterms:W3CDTF">2018-05-16T06:43:26Z</dcterms:created>
  <dcterms:modified xsi:type="dcterms:W3CDTF">2018-12-04T13:33:52Z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0x010100A92EBB2F281A77438476D53DB8DE4B8B</vt:lpwstr>
  </property>
</Properties>
</file>